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0" y="4617720"/>
            <a:ext cx="5486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1">
                <a:solidFill>
                  <a:srgbClr val="64748B"/>
                </a:solidFill>
                <a:latin typeface="JetBrains Mono"/>
              </a:rPr>
              <a:t>01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594360"/>
            <a:ext cx="347472" cy="347472"/>
          </a:xfrm>
          <a:prstGeom prst="ellipse">
            <a:avLst/>
          </a:prstGeom>
          <a:solidFill>
            <a:srgbClr val="EFF6FF"/>
          </a:solidFill>
          <a:ln w="31750">
            <a:solidFill>
              <a:srgbClr val="0D6E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8" y="594360"/>
            <a:ext cx="347472" cy="347472"/>
          </a:xfrm>
          <a:prstGeom prst="ellipse">
            <a:avLst/>
          </a:prstGeom>
          <a:solidFill>
            <a:srgbClr val="FFF7ED"/>
          </a:solidFill>
          <a:ln w="317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34440" y="621792"/>
            <a:ext cx="246888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667512"/>
            <a:ext cx="219456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 b="1">
                <a:solidFill>
                  <a:srgbClr val="0D6EFD"/>
                </a:solidFill>
                <a:latin typeface="JetBrains Mono"/>
              </a:rPr>
              <a:t>AMD ACT III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80467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5600" b="1">
                <a:solidFill>
                  <a:srgbClr val="1E293B"/>
                </a:solidFill>
                <a:latin typeface="Plus Jakarta Sans"/>
              </a:rPr>
              <a:t>ProcureX</a:t>
            </a:r>
            <a:r>
              <a:rPr sz="5600" b="1">
                <a:solidFill>
                  <a:srgbClr val="0D6EFD"/>
                </a:solidFill>
                <a:latin typeface="Plus Jakarta Sans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69494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>
                <a:solidFill>
                  <a:srgbClr val="64748B"/>
                </a:solidFill>
                <a:latin typeface="Plus Jakarta Sans"/>
              </a:rPr>
              <a:t>Autonomous supply chain exception handler. Resolves factory delays in </a:t>
            </a:r>
            <a:r>
              <a:rPr sz="1700" b="1">
                <a:solidFill>
                  <a:srgbClr val="1E293B"/>
                </a:solidFill>
                <a:latin typeface="Plus Jakarta Sans"/>
              </a:rPr>
              <a:t>3 seconds</a:t>
            </a:r>
            <a:r>
              <a:rPr sz="1700">
                <a:solidFill>
                  <a:srgbClr val="64748B"/>
                </a:solidFill>
                <a:latin typeface="Plus Jakarta Sans"/>
              </a:rPr>
              <a:t> on MI300X.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10B981"/>
                </a:solidFill>
                <a:latin typeface="JetBrains Mono"/>
              </a:rPr>
              <a:t>ROCm 6.3 · Gemma-2-27B · &lt;1,200ms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0" y="4617720"/>
            <a:ext cx="5486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1">
                <a:solidFill>
                  <a:srgbClr val="64748B"/>
                </a:solidFill>
                <a:latin typeface="JetBrains Mono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F97316"/>
                </a:solidFill>
                <a:latin typeface="JetBrains Mono"/>
              </a:rPr>
              <a:t>PROBLEM // 48-HOUR SCRAMBLE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60120"/>
            <a:ext cx="3108960" cy="356616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188720"/>
            <a:ext cx="265176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6400" b="1">
                <a:solidFill>
                  <a:srgbClr val="F97316"/>
                </a:solidFill>
                <a:latin typeface="Plus Jakarta Sans"/>
              </a:rPr>
              <a:t>$235K
</a:t>
            </a:r>
          </a:p>
          <a:p>
            <a:r>
              <a:rPr sz="1400" b="1">
                <a:solidFill>
                  <a:srgbClr val="1E293B"/>
                </a:solidFill>
                <a:latin typeface="Plus Jakarta Sans"/>
              </a:rPr>
              <a:t>Unmitigated Exposure
</a:t>
            </a:r>
          </a:p>
          <a:p>
            <a:r>
              <a:rPr sz="1300">
                <a:solidFill>
                  <a:srgbClr val="64748B"/>
                </a:solidFill>
                <a:latin typeface="Plus Jakarta Sans"/>
              </a:rPr>
              <a:t>PO-8842 steel delayed 14d.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960120"/>
            <a:ext cx="475488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1280160"/>
            <a:ext cx="42062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64748B"/>
                </a:solidFill>
                <a:latin typeface="JetBrains Mono"/>
              </a:rPr>
              <a:t>D+0: </a:t>
            </a:r>
            <a:r>
              <a:rPr sz="1300">
                <a:solidFill>
                  <a:srgbClr val="1E293B"/>
                </a:solidFill>
                <a:latin typeface="Plus Jakarta Sans"/>
              </a:rPr>
              <a:t>Email buried in inbox.
</a:t>
            </a:r>
          </a:p>
          <a:p>
            <a:r>
              <a:rPr sz="1300" b="1">
                <a:solidFill>
                  <a:srgbClr val="64748B"/>
                </a:solidFill>
                <a:latin typeface="JetBrains Mono"/>
              </a:rPr>
              <a:t>D+2: </a:t>
            </a:r>
            <a:r>
              <a:rPr sz="1300">
                <a:solidFill>
                  <a:srgbClr val="1E293B"/>
                </a:solidFill>
                <a:latin typeface="Plus Jakarta Sans"/>
              </a:rPr>
              <a:t>Spreadsheets miss stockout.
</a:t>
            </a:r>
          </a:p>
          <a:p>
            <a:r>
              <a:rPr sz="1300" b="1">
                <a:solidFill>
                  <a:srgbClr val="F97316"/>
                </a:solidFill>
                <a:latin typeface="JetBrains Mono"/>
              </a:rPr>
              <a:t>D+6: </a:t>
            </a:r>
            <a:r>
              <a:rPr sz="1300">
                <a:solidFill>
                  <a:srgbClr val="F97316"/>
                </a:solidFill>
                <a:latin typeface="Plus Jakarta Sans"/>
              </a:rPr>
              <a:t>Line A halts ($169K).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0" y="4617720"/>
            <a:ext cx="5486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1">
                <a:solidFill>
                  <a:srgbClr val="64748B"/>
                </a:solidFill>
                <a:latin typeface="JetBrains Mono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D6EFD"/>
                </a:solidFill>
                <a:latin typeface="JetBrains Mono"/>
              </a:rPr>
              <a:t>SCHEDULE + SOURCING CO-OPTIMIZATION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60120"/>
            <a:ext cx="384048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188720"/>
            <a:ext cx="338328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>
                <a:solidFill>
                  <a:srgbClr val="64748B"/>
                </a:solidFill>
                <a:latin typeface="Plus Jakarta Sans"/>
              </a:rPr>
              <a:t>MANUAL (48H)
</a:t>
            </a:r>
          </a:p>
          <a:p>
            <a:r>
              <a:rPr sz="1300">
                <a:solidFill>
                  <a:srgbClr val="64748B"/>
                </a:solidFill>
                <a:latin typeface="Plus Jakarta Sans"/>
              </a:rPr>
              <a:t>Spot buy: $18.2K.
Line starved 26 shifts.
SLA fine: $66K.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960120"/>
            <a:ext cx="4023360" cy="3566160"/>
          </a:xfrm>
          <a:prstGeom prst="roundRect">
            <a:avLst/>
          </a:prstGeom>
          <a:solidFill>
            <a:srgbClr val="EFF6FF"/>
          </a:solidFill>
          <a:ln w="22860">
            <a:solidFill>
              <a:srgbClr val="0D6E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00600" y="1188720"/>
            <a:ext cx="356616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>
                <a:solidFill>
                  <a:srgbClr val="0D6EFD"/>
                </a:solidFill>
                <a:latin typeface="Plus Jakarta Sans"/>
              </a:rPr>
              <a:t>PROCUREX (3S)
</a:t>
            </a:r>
          </a:p>
          <a:p>
            <a:r>
              <a:rPr sz="1300" b="1">
                <a:solidFill>
                  <a:srgbClr val="1E293B"/>
                </a:solidFill>
                <a:latin typeface="Plus Jakarta Sans"/>
              </a:rPr>
              <a:t>Swaps in aluminum orders.
Kessler bridge buy saves $221K (15.9x ROI).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0" y="4617720"/>
            <a:ext cx="5486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1">
                <a:solidFill>
                  <a:srgbClr val="64748B"/>
                </a:solidFill>
                <a:latin typeface="JetBrains Mono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D6EFD"/>
                </a:solidFill>
                <a:latin typeface="JetBrains Mono"/>
              </a:rPr>
              <a:t>CORE JOURNEY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25146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21488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64748B"/>
                </a:solidFill>
                <a:latin typeface="JetBrains Mono"/>
              </a:rPr>
              <a:t>01 INGEST
</a:t>
            </a:r>
          </a:p>
          <a:p>
            <a:r>
              <a:rPr sz="1300">
                <a:solidFill>
                  <a:srgbClr val="1E293B"/>
                </a:solidFill>
                <a:latin typeface="Plus Jakarta Sans"/>
              </a:rPr>
              <a:t>PO-8842 delay email parsed with confidence.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10128" y="1051560"/>
            <a:ext cx="2514600" cy="338328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93008" y="1280160"/>
            <a:ext cx="21488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F97316"/>
                </a:solidFill>
                <a:latin typeface="JetBrains Mono"/>
              </a:rPr>
              <a:t>02 RE-SEQUENCE
</a:t>
            </a:r>
          </a:p>
          <a:p>
            <a:r>
              <a:rPr sz="1300">
                <a:solidFill>
                  <a:srgbClr val="1E293B"/>
                </a:solidFill>
                <a:latin typeface="Plus Jakarta Sans"/>
              </a:rPr>
              <a:t>Shifts swap to on-hand aluminum.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051560"/>
            <a:ext cx="2514600" cy="33832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D6E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280160"/>
            <a:ext cx="21488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0D6EFD"/>
                </a:solidFill>
                <a:latin typeface="JetBrains Mono"/>
              </a:rPr>
              <a:t>03 EXECUTE
</a:t>
            </a:r>
          </a:p>
          <a:p>
            <a:r>
              <a:rPr sz="1300">
                <a:solidFill>
                  <a:srgbClr val="1E293B"/>
                </a:solidFill>
                <a:latin typeface="Plus Jakarta Sans"/>
              </a:rPr>
              <a:t>Approved bridge RFQ saves $221K.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0" y="4617720"/>
            <a:ext cx="5486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1">
                <a:solidFill>
                  <a:srgbClr val="64748B"/>
                </a:solidFill>
                <a:latin typeface="JetBrains Mono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D6EFD"/>
                </a:solidFill>
                <a:latin typeface="JetBrains Mono"/>
              </a:rPr>
              <a:t>SYSTEM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60120"/>
            <a:ext cx="438912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80160"/>
            <a:ext cx="393192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64748B"/>
                </a:solidFill>
                <a:latin typeface="JetBrains Mono"/>
              </a:rPr>
              <a:t>[ FastAPI ]  ↓  
</a:t>
            </a:r>
          </a:p>
          <a:p>
            <a:r>
              <a:rPr sz="1100" b="1">
                <a:solidFill>
                  <a:srgbClr val="0D6EFD"/>
                </a:solidFill>
                <a:latin typeface="JetBrains Mono"/>
              </a:rPr>
              <a:t>[ Gemma-2-27B ]  ↓  
</a:t>
            </a:r>
          </a:p>
          <a:p>
            <a:r>
              <a:rPr sz="1100" b="1">
                <a:solidFill>
                  <a:srgbClr val="0D6EFD"/>
                </a:solidFill>
                <a:latin typeface="JetBrains Mono"/>
              </a:rPr>
              <a:t>[ Shift Optimizer ]  ↓  
</a:t>
            </a:r>
          </a:p>
          <a:p>
            <a:r>
              <a:rPr sz="1100" b="1">
                <a:solidFill>
                  <a:srgbClr val="64748B"/>
                </a:solidFill>
                <a:latin typeface="JetBrains Mono"/>
              </a:rPr>
              <a:t>[ HITL Approval ]
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960120"/>
            <a:ext cx="3474720" cy="35661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49240" y="1188720"/>
            <a:ext cx="301752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600" b="1">
                <a:solidFill>
                  <a:srgbClr val="0D6EFD"/>
                </a:solidFill>
                <a:latin typeface="Plus Jakarta Sans"/>
              </a:rPr>
              <a:t>85 TOKENS/S
</a:t>
            </a:r>
          </a:p>
          <a:p>
            <a:r>
              <a:rPr sz="1300" b="1">
                <a:solidFill>
                  <a:srgbClr val="1E293B"/>
                </a:solidFill>
                <a:latin typeface="Plus Jakarta Sans"/>
              </a:rPr>
              <a:t>AMD Instinct MI300X.
</a:t>
            </a:r>
          </a:p>
          <a:p>
            <a:r>
              <a:rPr sz="1200">
                <a:solidFill>
                  <a:srgbClr val="64748B"/>
                </a:solidFill>
                <a:latin typeface="Plus Jakarta Sans"/>
              </a:rPr>
              <a:t>Sub-1,200ms pipeline with deterministic replay.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0" y="4617720"/>
            <a:ext cx="5486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1">
                <a:solidFill>
                  <a:srgbClr val="64748B"/>
                </a:solidFill>
                <a:latin typeface="JetBrains Mono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D6EFD"/>
                </a:solidFill>
                <a:latin typeface="JetBrains Mono"/>
              </a:rPr>
              <a:t>VALIDATED BENCHMARKS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2514600" cy="33832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21488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800" b="1">
                <a:solidFill>
                  <a:srgbClr val="0D6EFD"/>
                </a:solidFill>
                <a:latin typeface="Plus Jakarta Sans"/>
              </a:rPr>
              <a:t>&lt;1,200ms
</a:t>
            </a:r>
          </a:p>
          <a:p>
            <a:r>
              <a:rPr sz="1300">
                <a:solidFill>
                  <a:srgbClr val="1E293B"/>
                </a:solidFill>
                <a:latin typeface="Plus Jakarta Sans"/>
              </a:rPr>
              <a:t>Multi-agent MI300X execution.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10128" y="1051560"/>
            <a:ext cx="2514600" cy="338328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93008" y="1280160"/>
            <a:ext cx="21488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800" b="1">
                <a:solidFill>
                  <a:srgbClr val="F97316"/>
                </a:solidFill>
                <a:latin typeface="Plus Jakarta Sans"/>
              </a:rPr>
              <a:t>15.9x
</a:t>
            </a:r>
          </a:p>
          <a:p>
            <a:r>
              <a:rPr sz="1300">
                <a:solidFill>
                  <a:srgbClr val="1E293B"/>
                </a:solidFill>
                <a:latin typeface="Plus Jakarta Sans"/>
              </a:rPr>
              <a:t>$13.9K spend recovers $221K.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051560"/>
            <a:ext cx="2514600" cy="33832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280160"/>
            <a:ext cx="21488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800" b="1">
                <a:solidFill>
                  <a:srgbClr val="10B981"/>
                </a:solidFill>
                <a:latin typeface="Plus Jakarta Sans"/>
              </a:rPr>
              <a:t>0 IDLE
</a:t>
            </a:r>
          </a:p>
          <a:p>
            <a:r>
              <a:rPr sz="1300">
                <a:solidFill>
                  <a:srgbClr val="1E293B"/>
                </a:solidFill>
                <a:latin typeface="Plus Jakarta Sans"/>
              </a:rPr>
              <a:t>100% press utilization.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0" y="4617720"/>
            <a:ext cx="5486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1">
                <a:solidFill>
                  <a:srgbClr val="64748B"/>
                </a:solidFill>
                <a:latin typeface="JetBrains Mono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D6EFD"/>
                </a:solidFill>
                <a:latin typeface="JetBrains Mono"/>
              </a:rPr>
              <a:t>ROADMAP &amp; DEPLOYMENT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60120"/>
            <a:ext cx="475488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80160"/>
            <a:ext cx="429768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0D6EFD"/>
                </a:solidFill>
                <a:latin typeface="JetBrains Mono"/>
              </a:rPr>
              <a:t>+30D: </a:t>
            </a:r>
            <a:r>
              <a:rPr sz="1300">
                <a:solidFill>
                  <a:srgbClr val="1E293B"/>
                </a:solidFill>
                <a:latin typeface="Plus Jakarta Sans"/>
              </a:rPr>
              <a:t>ERP webhooks.
</a:t>
            </a:r>
          </a:p>
          <a:p>
            <a:r>
              <a:rPr sz="1200" b="1">
                <a:solidFill>
                  <a:srgbClr val="0D6EFD"/>
                </a:solidFill>
                <a:latin typeface="JetBrains Mono"/>
              </a:rPr>
              <a:t>+60D: </a:t>
            </a:r>
            <a:r>
              <a:rPr sz="1300">
                <a:solidFill>
                  <a:srgbClr val="1E293B"/>
                </a:solidFill>
                <a:latin typeface="Plus Jakarta Sans"/>
              </a:rPr>
              <a:t>Port congestion AIS feeds.
</a:t>
            </a:r>
          </a:p>
          <a:p>
            <a:r>
              <a:rPr sz="1200" b="1">
                <a:solidFill>
                  <a:srgbClr val="0D6EFD"/>
                </a:solidFill>
                <a:latin typeface="JetBrains Mono"/>
              </a:rPr>
              <a:t>+90D: </a:t>
            </a:r>
            <a:r>
              <a:rPr sz="1300">
                <a:solidFill>
                  <a:srgbClr val="1E293B"/>
                </a:solidFill>
                <a:latin typeface="Plus Jakarta Sans"/>
              </a:rPr>
              <a:t>Autonomous supplier negotiations.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960120"/>
            <a:ext cx="310896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0" y="1280160"/>
            <a:ext cx="265176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>
                <a:solidFill>
                  <a:srgbClr val="0D6EFD"/>
                </a:solidFill>
                <a:latin typeface="JetBrains Mono"/>
              </a:rPr>
              <a:t>github.com/b3rtuso/ProcureX
</a:t>
            </a:r>
          </a:p>
          <a:p>
            <a:r>
              <a:rPr sz="1100">
                <a:solidFill>
                  <a:srgbClr val="10B981"/>
                </a:solidFill>
                <a:latin typeface="JetBrains Mono"/>
              </a:rPr>
              <a:t>Live on localhost:8000
FastAPI · ROCm 6.3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